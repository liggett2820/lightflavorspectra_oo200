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29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25"/>
    <p:sldId id="277" r:id="rId28"/>
    <p:sldId id="280" r:id="rId31"/>
    <p:sldId id="322" r:id="rId73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5" Type="http://schemas.openxmlformats.org/officeDocument/2006/relationships/slide" Target="slides/slide23.xml"/>  
  <Relationship Id="rId28" Type="http://schemas.openxmlformats.org/officeDocument/2006/relationships/slide" Target="slides/slide26.xml"/>
  
  
  <Relationship Id="rId31" Type="http://schemas.openxmlformats.org/officeDocument/2006/relationships/slide" Target="slides/slide29.xml"/>
  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slide" Target="slides/slide39.xml"/>
  <Relationship Id="rId42" Type="http://schemas.openxmlformats.org/officeDocument/2006/relationships/slide" Target="slides/slide40.xml"/>
  <Relationship Id="rId43" Type="http://schemas.openxmlformats.org/officeDocument/2006/relationships/slide" Target="slides/slide41.xml"/>
  <Relationship Id="rId44" Type="http://schemas.openxmlformats.org/officeDocument/2006/relationships/slide" Target="slides/slide42.xml"/>
  <Relationship Id="rId45" Type="http://schemas.openxmlformats.org/officeDocument/2006/relationships/slide" Target="slides/slide43.xml"/>
  <Relationship Id="rId46" Type="http://schemas.openxmlformats.org/officeDocument/2006/relationships/slide" Target="slides/slide44.xml"/>
  <Relationship Id="rId47" Type="http://schemas.openxmlformats.org/officeDocument/2006/relationships/slide" Target="slides/slide45.xml"/>
  <Relationship Id="rId48" Type="http://schemas.openxmlformats.org/officeDocument/2006/relationships/slide" Target="slides/slide46.xml"/>
  <Relationship Id="rId49" Type="http://schemas.openxmlformats.org/officeDocument/2006/relationships/slide" Target="slides/slide47.xml"/>
  <Relationship Id="rId50" Type="http://schemas.openxmlformats.org/officeDocument/2006/relationships/slide" Target="slides/slide48.xml"/>
  <Relationship Id="rId51" Type="http://schemas.openxmlformats.org/officeDocument/2006/relationships/slide" Target="slides/slide49.xml"/>
  <Relationship Id="rId52" Type="http://schemas.openxmlformats.org/officeDocument/2006/relationships/slide" Target="slides/slide50.xml"/>
  <Relationship Id="rId53" Type="http://schemas.openxmlformats.org/officeDocument/2006/relationships/slide" Target="slides/slide51.xml"/>
  <Relationship Id="rId54" Type="http://schemas.openxmlformats.org/officeDocument/2006/relationships/slide" Target="slides/slide52.xml"/>
  <Relationship Id="rId55" Type="http://schemas.openxmlformats.org/officeDocument/2006/relationships/slide" Target="slides/slide53.xml"/>
  <Relationship Id="rId56" Type="http://schemas.openxmlformats.org/officeDocument/2006/relationships/slide" Target="slides/slide54.xml"/>
  <Relationship Id="rId57" Type="http://schemas.openxmlformats.org/officeDocument/2006/relationships/slide" Target="slides/slide55.xml"/>
  <Relationship Id="rId58" Type="http://schemas.openxmlformats.org/officeDocument/2006/relationships/slide" Target="slides/slide56.xml"/>
  <Relationship Id="rId59" Type="http://schemas.openxmlformats.org/officeDocument/2006/relationships/slide" Target="slides/slide57.xml"/>
  <Relationship Id="rId60" Type="http://schemas.openxmlformats.org/officeDocument/2006/relationships/slide" Target="slides/slide58.xml"/>
  <Relationship Id="rId61" Type="http://schemas.openxmlformats.org/officeDocument/2006/relationships/slide" Target="slides/slide59.xml"/>
  <Relationship Id="rId62" Type="http://schemas.openxmlformats.org/officeDocument/2006/relationships/slide" Target="slides/slide60.xml"/>
  <Relationship Id="rId63" Type="http://schemas.openxmlformats.org/officeDocument/2006/relationships/slide" Target="slides/slide61.xml"/>
  <Relationship Id="rId64" Type="http://schemas.openxmlformats.org/officeDocument/2006/relationships/slide" Target="slides/slide62.xml"/>
  <Relationship Id="rId65" Type="http://schemas.openxmlformats.org/officeDocument/2006/relationships/slide" Target="slides/slide63.xml"/>
  <Relationship Id="rId66" Type="http://schemas.openxmlformats.org/officeDocument/2006/relationships/slide" Target="slides/slide64.xml"/>
  <Relationship Id="rId67" Type="http://schemas.openxmlformats.org/officeDocument/2006/relationships/slide" Target="slides/slide65.xml"/>
  <Relationship Id="rId68" Type="http://schemas.openxmlformats.org/officeDocument/2006/relationships/slide" Target="slides/slide66.xml"/>
  <Relationship Id="rId69" Type="http://schemas.openxmlformats.org/officeDocument/2006/relationships/slide" Target="slides/slide67.xml"/>
  <Relationship Id="rId70" Type="http://schemas.openxmlformats.org/officeDocument/2006/relationships/slide" Target="slides/slide68.xml"/>
  <Relationship Id="rId71" Type="http://schemas.openxmlformats.org/officeDocument/2006/relationships/slide" Target="slides/slide69.xml"/>
  <Relationship Id="rId72" Type="http://schemas.openxmlformats.org/officeDocument/2006/relationships/slide" Target="slides/slide70.xml"/>
  <Relationship Id="rId73" Type="http://schemas.openxmlformats.org/officeDocument/2006/relationships/slide" Target="slides/slide71.xml"/>
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mpareNHitsMaxByCharge_2D.png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mpareNHitsMaxByCharge_Scan.png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AllCentralities_PionPlus.png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AllCentralities_KaonPlus.png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AllCentralities_ProtonPlus.png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ionPlus_Cent00.png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ionPlus_Cent01.png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ionPlus_Cent02.png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ionPlus_Cent03.png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ionPlus_Cent04.png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ionPlus_Cent05.png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ionMinus_Cent00.png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ionMinus_Cent01.png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ionMinus_Cent02.png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ionMinus_Cent03.png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ionMinus_Cent04.png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ionMinus_Cent05.png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KaonPlus_Cent00.png"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KaonPlus_Cent01.png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KaonPlus_Cent02.png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KaonPlus_Cent03.png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KaonPlus_Cent04.png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KaonPlus_Cent05.png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KaonMinus_Cent00.png"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KaonMinus_Cent01.png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KaonMinus_Cent02.png"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KaonMinus_Cent03.png"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KaonMinus_Cent04.png"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KaonMinus_Cent05.png"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rotonPlus_Cent00.png"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rotonPlus_Cent01.png"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rotonPlus_Cent02.png"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rotonPlus_Cent03.png"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rotonPlus_Cent04.png"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rotonPlus_Cent05.png"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rotonMinus_Cent00.png"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rotonMinus_Cent01.png"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rotonMinus_Cent02.png"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rotonMinus_Cent03.png"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rotonMinus_Cent04.png"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CorrectedSpectra_ProtonMinus_Cent05.png"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PresentEventQA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NPG GROUP MEETING  •  WEDNESDAY, JULY 29,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π/K/p Spectra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Update: O+O Collisions &amp; Space Radiation Physics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</a:t>
            </a:r>
            <a:endParaRPr lang="en-US" sz="1400" dirty="0"/>
          </a:p>
        </p:txBody>
      </p:sp>
      <p:pic>
        <p:nvPicPr>
          <p:cNvPr id="6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7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UPDATES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Key Updates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300000"/>
            <a:ext cx="36576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1300000"/>
            <a:ext cx="779983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NHitsMax streak investigation concluded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86968" y="1690000"/>
            <a:ext cx="779983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and negative tracks share the identical N_hits^max ceiling at every eta point (38/38 right, 35/38 left) -- curvature is ruled out; streaks trace fixed TPC geometry.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200000"/>
            <a:ext cx="36576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2200000"/>
            <a:ext cx="779983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check: this week's yields unaffected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86968" y="2590000"/>
            <a:ext cx="779983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a real trigger-cut bugfix missing from stale local build libraries (PicoBinner/CutClass); confirmed the actual PION yield file used this week came from an already-corrected SDCC rebuild.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100000"/>
            <a:ext cx="36576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" y="3100000"/>
            <a:ext cx="779983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spectra set produced: all species, all centralities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86968" y="3490000"/>
            <a:ext cx="779983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mT-m0 spectra are now complete for pion, kaon, and proton, across all six centrality bins each -- the full set is ready for presentation.</a:t>
            </a:r>
            <a:endParaRPr lang="en-US" sz="1250" dirty="0"/>
          </a:p>
        </p:txBody>
      </p:sp>
      <p:pic>
        <p:nvPicPr>
          <p:cNvPr id="19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20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NHitsMax INVESTIGATION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Charge-Split Test: Setup</a:t>
            </a:r>
            <a:endParaRPr lang="en-US" sz="2800" dirty="0"/>
          </a:p>
        </p:txBody>
      </p:sp>
      <p:pic>
        <p:nvPicPr>
          <p:cNvPr id="4" name="Plot: CompareNHitsMaxByCharge_2D" descr="macros/CompareNHitsMaxByCharge.C output, 2D positive vs negati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N_hits^max vs eta, positive (left) vs negative (right) -- streaks appear at identical eta positions for both charges.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NHitsMax INVESTIGATION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Charge-Split Test: Conclusion</a:t>
            </a:r>
            <a:endParaRPr lang="en-US" sz="2800" dirty="0"/>
          </a:p>
        </p:txBody>
      </p:sp>
      <p:pic>
        <p:nvPicPr>
          <p:cNvPr id="4" name="Plot: CompareNHitsMaxByCharge_Scan" descr="macros/CompareNHitsMaxByCharge.C output, peak-vs-eta sc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000" y="1210000"/>
            <a:ext cx="3978000" cy="2000000"/>
          </a:xfrm>
          <a:prstGeom prst="rect">
            <a:avLst/>
          </a:prstGeom>
        </p:spPr>
      </p:pic>
      <p:sp>
        <p:nvSpPr>
          <p:cNvPr id="5" name="Text caption"/>
          <p:cNvSpPr/>
          <p:nvPr/>
        </p:nvSpPr>
        <p:spPr>
          <a:xfrm>
            <a:off x="502920" y="3230000"/>
            <a:ext cx="813816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kern="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appears to dominate only because it sits exactly on top of blue -- see coincidence count below.</a:t>
            </a:r>
            <a:endParaRPr lang="en-US" sz="1000" dirty="0"/>
          </a:p>
        </p:txBody>
      </p:sp>
      <p:sp>
        <p:nvSpPr>
          <p:cNvPr id="6" name="Text heading"/>
          <p:cNvSpPr/>
          <p:nvPr/>
        </p:nvSpPr>
        <p:spPr>
          <a:xfrm>
            <a:off x="502920" y="3460000"/>
            <a:ext cx="81381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Curvature Hypothesis Refuted</a:t>
            </a:r>
            <a:endParaRPr lang="en-US" sz="1550" dirty="0"/>
          </a:p>
        </p:txBody>
      </p:sp>
      <p:sp>
        <p:nvSpPr>
          <p:cNvPr id="7" name="Text body"/>
          <p:cNvSpPr/>
          <p:nvPr/>
        </p:nvSpPr>
        <p:spPr>
          <a:xfrm>
            <a:off x="502920" y="3790000"/>
            <a:ext cx="813816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Positive- and negative-track peaks are exactly coincident at 38/38 points on the right side and 35/38 on the left -- opposite-charge tracks would cross a fixed boundary at a shifted eta if curvature drove the streaks, but they don't. Streaks trace fixed TPC geometry (corner + inner/outer sector boundary), not charge-dependent curvature.</a:t>
            </a:r>
            <a:endParaRPr lang="en-US" sz="1250" dirty="0"/>
          </a:p>
        </p:txBody>
      </p:sp>
      <p:pic>
        <p:nvPicPr>
          <p:cNvPr id="9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10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11" name="Text pagenum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Text credit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TOOLING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Pion: Combined All-Centralities Spectra View</a:t>
            </a:r>
            <a:endParaRPr lang="en-US" sz="2800" dirty="0"/>
          </a:p>
        </p:txBody>
      </p:sp>
      <p:pic>
        <p:nvPicPr>
          <p:cNvPr id="4" name="Plot: AllCentralities_PionPlus" descr="macros/PresentRawSpectraModifierOutput.C output, faceted all-centralities view, pi+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PresentRawSpectraModifierOutput.C now emits one faceted PNG per species, all six centrality bins together -- pi+ shown here.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TOOLING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Kaon: Combined All-Centralities Spectra View</a:t>
            </a:r>
            <a:endParaRPr lang="en-US" sz="2800" dirty="0"/>
          </a:p>
        </p:txBody>
      </p:sp>
      <p:pic>
        <p:nvPicPr>
          <p:cNvPr id="4" name="Plot: AllCentralities_KaonPlus" descr="macros/PresentRawSpectraModifierOutput.C output, faceted all-centralities view, K+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faceted view for K+, all six centrality bins together -- confirmed working across the species.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TOOLING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Proton: Combined All-Centralities Spectra View</a:t>
            </a:r>
            <a:endParaRPr lang="en-US" sz="2800" dirty="0"/>
          </a:p>
        </p:txBody>
      </p:sp>
      <p:pic>
        <p:nvPicPr>
          <p:cNvPr id="4" name="Plot: AllCentralities_ProtonPlus" descr="macros/PresentRawSpectraModifierOutput.C output, faceted all-centralities view, p+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faceted view for proton, all six centrality bins together -- confirmed working across the species.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eTOF Calibrations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500000"/>
            <a:ext cx="36576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1500000"/>
            <a:ext cx="779983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eTOF calibrations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86968" y="1890000"/>
            <a:ext cx="779983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MuDsts have been restored, unblocking this work -- starting the eTOF calibration pass now.</a:t>
            </a:r>
            <a:endParaRPr lang="en-US" sz="1250" dirty="0"/>
          </a:p>
        </p:txBody>
      </p:sp>
      <p:sp>
        <p:nvSpPr>
          <p:cNvPr id="30" name="Text 6"/>
          <p:cNvSpPr/>
          <p:nvPr/>
        </p:nvSpPr>
        <p:spPr>
          <a:xfrm>
            <a:off x="502920" y="2900000"/>
            <a:ext cx="36576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700" dirty="0"/>
          </a:p>
        </p:txBody>
      </p:sp>
      <p:sp>
        <p:nvSpPr>
          <p:cNvPr id="31" name="Text 7"/>
          <p:cNvSpPr/>
          <p:nvPr/>
        </p:nvSpPr>
        <p:spPr>
          <a:xfrm>
            <a:off x="886968" y="2900000"/>
            <a:ext cx="779983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an embedding request</a:t>
            </a:r>
            <a:endParaRPr lang="en-US" sz="1550" dirty="0"/>
          </a:p>
        </p:txBody>
      </p:sp>
      <p:sp>
        <p:nvSpPr>
          <p:cNvPr id="32" name="Text 8"/>
          <p:cNvSpPr/>
          <p:nvPr/>
        </p:nvSpPr>
        <p:spPr>
          <a:xfrm>
            <a:off x="886968" y="3290000"/>
            <a:ext cx="779983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to submit an embedding request in the near future -- exact timing still being finalized.</a:t>
            </a:r>
            <a:endParaRPr lang="en-US" sz="1250" dirty="0"/>
          </a:p>
        </p:txBody>
      </p:sp>
      <p:pic>
        <p:nvPicPr>
          <p:cNvPr id="19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20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Pion+: 0-5% Centrality</a:t>
            </a:r>
            <a:endParaRPr lang="en-US" sz="2800" dirty="0"/>
          </a:p>
        </p:txBody>
      </p:sp>
      <p:pic>
        <p:nvPicPr>
          <p:cNvPr id="4" name="Plot: CorrectedSpectra_PionPlus_Cent00" descr="macros/PresentRawSpectraModifierOutput.C output, Pion +, 0-5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pion+ mT-m0 spectra, 0-5%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Pion+: 5-10% Centrality</a:t>
            </a:r>
            <a:endParaRPr lang="en-US" sz="2800" dirty="0"/>
          </a:p>
        </p:txBody>
      </p:sp>
      <p:pic>
        <p:nvPicPr>
          <p:cNvPr id="4" name="Plot: CorrectedSpectra_PionPlus_Cent01" descr="macros/PresentRawSpectraModifierOutput.C output, Pion +, 5-1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pion+ mT-m0 spectra, 5-10%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Pion+: 10-20% Centrality</a:t>
            </a:r>
            <a:endParaRPr lang="en-US" sz="2800" dirty="0"/>
          </a:p>
        </p:txBody>
      </p:sp>
      <p:pic>
        <p:nvPicPr>
          <p:cNvPr id="4" name="Plot: CorrectedSpectra_PionPlus_Cent02" descr="macros/PresentRawSpectraModifierOutput.C output, Pion +, 10-2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pion+ mT-m0 spectra, 10-20%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Pion+: 20-40% Centrality</a:t>
            </a:r>
            <a:endParaRPr lang="en-US" sz="2800" dirty="0"/>
          </a:p>
        </p:txBody>
      </p:sp>
      <p:pic>
        <p:nvPicPr>
          <p:cNvPr id="4" name="Plot: CorrectedSpectra_PionPlus_Cent03" descr="macros/PresentRawSpectraModifierOutput.C output, Pion +, 20-4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pion+ mT-m0 spectra, 20-40%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Pion+: 40-80% Centrality</a:t>
            </a:r>
            <a:endParaRPr lang="en-US" sz="2800" dirty="0"/>
          </a:p>
        </p:txBody>
      </p:sp>
      <p:pic>
        <p:nvPicPr>
          <p:cNvPr id="4" name="Plot: CorrectedSpectra_PionPlus_Cent04" descr="macros/PresentRawSpectraModifierOutput.C output, Pion +, 40-8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pion+ mT-m0 spectra, 40-80%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Pion+: 80-100% Centrality</a:t>
            </a:r>
            <a:endParaRPr lang="en-US" sz="2800" dirty="0"/>
          </a:p>
        </p:txBody>
      </p:sp>
      <p:pic>
        <p:nvPicPr>
          <p:cNvPr id="4" name="Plot: CorrectedSpectra_PionPlus_Cent05" descr="macros/PresentRawSpectraModifierOutput.C output, Pion +, 80-10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pion+ mT-m0 spectra, 80-100%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Pion-: 0-5% Centrality</a:t>
            </a:r>
            <a:endParaRPr lang="en-US" sz="2800" dirty="0"/>
          </a:p>
        </p:txBody>
      </p:sp>
      <p:pic>
        <p:nvPicPr>
          <p:cNvPr id="4" name="Plot: CorrectedSpectra_PionMinus_Cent00" descr="macros/PresentRawSpectraModifierOutput.C output, Pion -, 0-5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pion- mT-m0 spectra, 0-5%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Pion-: 5-10% Centrality</a:t>
            </a:r>
            <a:endParaRPr lang="en-US" sz="2800" dirty="0"/>
          </a:p>
        </p:txBody>
      </p:sp>
      <p:pic>
        <p:nvPicPr>
          <p:cNvPr id="4" name="Plot: CorrectedSpectra_PionMinus_Cent01" descr="macros/PresentRawSpectraModifierOutput.C output, Pion -, 5-1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pion- mT-m0 spectra, 5-10%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Pion-: 10-20% Centrality</a:t>
            </a:r>
            <a:endParaRPr lang="en-US" sz="2800" dirty="0"/>
          </a:p>
        </p:txBody>
      </p:sp>
      <p:pic>
        <p:nvPicPr>
          <p:cNvPr id="4" name="Plot: CorrectedSpectra_PionMinus_Cent02" descr="macros/PresentRawSpectraModifierOutput.C output, Pion -, 10-2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pion- mT-m0 spectra, 10-20%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Pion-: 20-40% Centrality</a:t>
            </a:r>
            <a:endParaRPr lang="en-US" sz="2800" dirty="0"/>
          </a:p>
        </p:txBody>
      </p:sp>
      <p:pic>
        <p:nvPicPr>
          <p:cNvPr id="4" name="Plot: CorrectedSpectra_PionMinus_Cent03" descr="macros/PresentRawSpectraModifierOutput.C output, Pion -, 20-4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pion- mT-m0 spectra, 20-40%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Pion-: 40-80% Centrality</a:t>
            </a:r>
            <a:endParaRPr lang="en-US" sz="2800" dirty="0"/>
          </a:p>
        </p:txBody>
      </p:sp>
      <p:pic>
        <p:nvPicPr>
          <p:cNvPr id="4" name="Plot: CorrectedSpectra_PionMinus_Cent04" descr="macros/PresentRawSpectraModifierOutput.C output, Pion -, 40-8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pion- mT-m0 spectra, 40-80%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Pion-: 80-100% Centrality</a:t>
            </a:r>
            <a:endParaRPr lang="en-US" sz="2800" dirty="0"/>
          </a:p>
        </p:txBody>
      </p:sp>
      <p:pic>
        <p:nvPicPr>
          <p:cNvPr id="4" name="Plot: CorrectedSpectra_PionMinus_Cent05" descr="macros/PresentRawSpectraModifierOutput.C output, Pion -, 80-10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pion- mT-m0 spectra, 80-100%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Kaon+: 0-5% Centrality</a:t>
            </a:r>
            <a:endParaRPr lang="en-US" sz="2800" dirty="0"/>
          </a:p>
        </p:txBody>
      </p:sp>
      <p:pic>
        <p:nvPicPr>
          <p:cNvPr id="4" name="Plot: CorrectedSpectra_KaonPlus_Cent00" descr="macros/PresentRawSpectraModifierOutput.C output, Kaon +, 0-5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kaon+ mT-m0 spectra, 0-5%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Kaon+: 5-10% Centrality</a:t>
            </a:r>
            <a:endParaRPr lang="en-US" sz="2800" dirty="0"/>
          </a:p>
        </p:txBody>
      </p:sp>
      <p:pic>
        <p:nvPicPr>
          <p:cNvPr id="4" name="Plot: CorrectedSpectra_KaonPlus_Cent01" descr="macros/PresentRawSpectraModifierOutput.C output, Kaon +, 5-1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kaon+ mT-m0 spectra, 5-10%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Kaon+: 10-20% Centrality</a:t>
            </a:r>
            <a:endParaRPr lang="en-US" sz="2800" dirty="0"/>
          </a:p>
        </p:txBody>
      </p:sp>
      <p:pic>
        <p:nvPicPr>
          <p:cNvPr id="4" name="Plot: CorrectedSpectra_KaonPlus_Cent02" descr="macros/PresentRawSpectraModifierOutput.C output, Kaon +, 10-2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kaon+ mT-m0 spectra, 10-20%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Kaon+: 20-40% Centrality</a:t>
            </a:r>
            <a:endParaRPr lang="en-US" sz="2800" dirty="0"/>
          </a:p>
        </p:txBody>
      </p:sp>
      <p:pic>
        <p:nvPicPr>
          <p:cNvPr id="4" name="Plot: CorrectedSpectra_KaonPlus_Cent03" descr="macros/PresentRawSpectraModifierOutput.C output, Kaon +, 20-4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kaon+ mT-m0 spectra, 20-40%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Kaon+: 40-80% Centrality</a:t>
            </a:r>
            <a:endParaRPr lang="en-US" sz="2800" dirty="0"/>
          </a:p>
        </p:txBody>
      </p:sp>
      <p:pic>
        <p:nvPicPr>
          <p:cNvPr id="4" name="Plot: CorrectedSpectra_KaonPlus_Cent04" descr="macros/PresentRawSpectraModifierOutput.C output, Kaon +, 40-8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kaon+ mT-m0 spectra, 40-80%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Kaon+: 80-100% Centrality</a:t>
            </a:r>
            <a:endParaRPr lang="en-US" sz="2800" dirty="0"/>
          </a:p>
        </p:txBody>
      </p:sp>
      <p:pic>
        <p:nvPicPr>
          <p:cNvPr id="4" name="Plot: CorrectedSpectra_KaonPlus_Cent05" descr="macros/PresentRawSpectraModifierOutput.C output, Kaon +, 80-10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kaon+ mT-m0 spectra, 80-100%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Kaon-: 0-5% Centrality</a:t>
            </a:r>
            <a:endParaRPr lang="en-US" sz="2800" dirty="0"/>
          </a:p>
        </p:txBody>
      </p:sp>
      <p:pic>
        <p:nvPicPr>
          <p:cNvPr id="4" name="Plot: CorrectedSpectra_KaonMinus_Cent00" descr="macros/PresentRawSpectraModifierOutput.C output, Kaon -, 0-5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kaon- mT-m0 spectra, 0-5%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Kaon-: 5-10% Centrality</a:t>
            </a:r>
            <a:endParaRPr lang="en-US" sz="2800" dirty="0"/>
          </a:p>
        </p:txBody>
      </p:sp>
      <p:pic>
        <p:nvPicPr>
          <p:cNvPr id="4" name="Plot: CorrectedSpectra_KaonMinus_Cent01" descr="macros/PresentRawSpectraModifierOutput.C output, Kaon -, 5-1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kaon- mT-m0 spectra, 5-10%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Kaon-: 10-20% Centrality</a:t>
            </a:r>
            <a:endParaRPr lang="en-US" sz="2800" dirty="0"/>
          </a:p>
        </p:txBody>
      </p:sp>
      <p:pic>
        <p:nvPicPr>
          <p:cNvPr id="4" name="Plot: CorrectedSpectra_KaonMinus_Cent02" descr="macros/PresentRawSpectraModifierOutput.C output, Kaon -, 10-2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kaon- mT-m0 spectra, 10-20%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Kaon-: 20-40% Centrality</a:t>
            </a:r>
            <a:endParaRPr lang="en-US" sz="2800" dirty="0"/>
          </a:p>
        </p:txBody>
      </p:sp>
      <p:pic>
        <p:nvPicPr>
          <p:cNvPr id="4" name="Plot: CorrectedSpectra_KaonMinus_Cent03" descr="macros/PresentRawSpectraModifierOutput.C output, Kaon -, 20-4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kaon- mT-m0 spectra, 20-40%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Kaon-: 40-80% Centrality</a:t>
            </a:r>
            <a:endParaRPr lang="en-US" sz="2800" dirty="0"/>
          </a:p>
        </p:txBody>
      </p:sp>
      <p:pic>
        <p:nvPicPr>
          <p:cNvPr id="4" name="Plot: CorrectedSpectra_KaonMinus_Cent04" descr="macros/PresentRawSpectraModifierOutput.C output, Kaon -, 40-8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kaon- mT-m0 spectra, 40-80%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Kaon-: 80-100% Centrality</a:t>
            </a:r>
            <a:endParaRPr lang="en-US" sz="2800" dirty="0"/>
          </a:p>
        </p:txBody>
      </p:sp>
      <p:pic>
        <p:nvPicPr>
          <p:cNvPr id="4" name="Plot: CorrectedSpectra_KaonMinus_Cent05" descr="macros/PresentRawSpectraModifierOutput.C output, Kaon -, 80-10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kaon- mT-m0 spectra, 80-100%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Proton+: 0-5% Centrality</a:t>
            </a:r>
            <a:endParaRPr lang="en-US" sz="2800" dirty="0"/>
          </a:p>
        </p:txBody>
      </p:sp>
      <p:pic>
        <p:nvPicPr>
          <p:cNvPr id="4" name="Plot: CorrectedSpectra_ProtonPlus_Cent00" descr="macros/PresentRawSpectraModifierOutput.C output, Proton +, 0-5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proton+ mT-m0 spectra, 0-5%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Proton+: 5-10% Centrality</a:t>
            </a:r>
            <a:endParaRPr lang="en-US" sz="2800" dirty="0"/>
          </a:p>
        </p:txBody>
      </p:sp>
      <p:pic>
        <p:nvPicPr>
          <p:cNvPr id="4" name="Plot: CorrectedSpectra_ProtonPlus_Cent01" descr="macros/PresentRawSpectraModifierOutput.C output, Proton +, 5-1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proton+ mT-m0 spectra, 5-10%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Proton+: 10-20% Centrality</a:t>
            </a:r>
            <a:endParaRPr lang="en-US" sz="2800" dirty="0"/>
          </a:p>
        </p:txBody>
      </p:sp>
      <p:pic>
        <p:nvPicPr>
          <p:cNvPr id="4" name="Plot: CorrectedSpectra_ProtonPlus_Cent02" descr="macros/PresentRawSpectraModifierOutput.C output, Proton +, 10-2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proton+ mT-m0 spectra, 10-20%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Proton+: 20-40% Centrality</a:t>
            </a:r>
            <a:endParaRPr lang="en-US" sz="2800" dirty="0"/>
          </a:p>
        </p:txBody>
      </p:sp>
      <p:pic>
        <p:nvPicPr>
          <p:cNvPr id="4" name="Plot: CorrectedSpectra_ProtonPlus_Cent03" descr="macros/PresentRawSpectraModifierOutput.C output, Proton +, 20-4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proton+ mT-m0 spectra, 20-40%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Proton+: 40-80% Centrality</a:t>
            </a:r>
            <a:endParaRPr lang="en-US" sz="2800" dirty="0"/>
          </a:p>
        </p:txBody>
      </p:sp>
      <p:pic>
        <p:nvPicPr>
          <p:cNvPr id="4" name="Plot: CorrectedSpectra_ProtonPlus_Cent04" descr="macros/PresentRawSpectraModifierOutput.C output, Proton +, 40-8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proton+ mT-m0 spectra, 40-80%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Proton+: 80-100% Centrality</a:t>
            </a:r>
            <a:endParaRPr lang="en-US" sz="2800" dirty="0"/>
          </a:p>
        </p:txBody>
      </p:sp>
      <p:pic>
        <p:nvPicPr>
          <p:cNvPr id="4" name="Plot: CorrectedSpectra_ProtonPlus_Cent05" descr="macros/PresentRawSpectraModifierOutput.C output, Proton +, 80-10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proton+ mT-m0 spectra, 80-100%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Proton-: 0-5% Centrality</a:t>
            </a:r>
            <a:endParaRPr lang="en-US" sz="2800" dirty="0"/>
          </a:p>
        </p:txBody>
      </p:sp>
      <p:pic>
        <p:nvPicPr>
          <p:cNvPr id="4" name="Plot: CorrectedSpectra_ProtonMinus_Cent00" descr="macros/PresentRawSpectraModifierOutput.C output, Proton -, 0-5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proton- mT-m0 spectra, 0-5%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Proton-: 5-10% Centrality</a:t>
            </a:r>
            <a:endParaRPr lang="en-US" sz="2800" dirty="0"/>
          </a:p>
        </p:txBody>
      </p:sp>
      <p:pic>
        <p:nvPicPr>
          <p:cNvPr id="4" name="Plot: CorrectedSpectra_ProtonMinus_Cent01" descr="macros/PresentRawSpectraModifierOutput.C output, Proton -, 5-1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proton- mT-m0 spectra, 5-10%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Proton-: 10-20% Centrality</a:t>
            </a:r>
            <a:endParaRPr lang="en-US" sz="2800" dirty="0"/>
          </a:p>
        </p:txBody>
      </p:sp>
      <p:pic>
        <p:nvPicPr>
          <p:cNvPr id="4" name="Plot: CorrectedSpectra_ProtonMinus_Cent02" descr="macros/PresentRawSpectraModifierOutput.C output, Proton -, 10-2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proton- mT-m0 spectra, 10-20%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Proton-: 20-40% Centrality</a:t>
            </a:r>
            <a:endParaRPr lang="en-US" sz="2800" dirty="0"/>
          </a:p>
        </p:txBody>
      </p:sp>
      <p:pic>
        <p:nvPicPr>
          <p:cNvPr id="4" name="Plot: CorrectedSpectra_ProtonMinus_Cent03" descr="macros/PresentRawSpectraModifierOutput.C output, Proton -, 20-4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proton- mT-m0 spectra, 20-40%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Proton-: 40-80% Centrality</a:t>
            </a:r>
            <a:endParaRPr lang="en-US" sz="2800" dirty="0"/>
          </a:p>
        </p:txBody>
      </p:sp>
      <p:pic>
        <p:nvPicPr>
          <p:cNvPr id="4" name="Plot: CorrectedSpectra_ProtonMinus_Cent04" descr="macros/PresentRawSpectraModifierOutput.C output, Proton -, 40-8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proton- mT-m0 spectra, 40-80%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Proton-: 80-100% Centrality</a:t>
            </a:r>
            <a:endParaRPr lang="en-US" sz="2800" dirty="0"/>
          </a:p>
        </p:txBody>
      </p:sp>
      <p:pic>
        <p:nvPicPr>
          <p:cNvPr id="4" name="Plot: CorrectedSpectra_ProtonMinus_Cent05" descr="macros/PresentRawSpectraModifierOutput.C output, Proton -, 80-100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775" y="1210000"/>
            <a:ext cx="6066450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proton- mT-m0 spectra, 80-100% centrality, TPC+BTOF, all rapidity bins.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QUALITY ASSURANCE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QA: Trigger Cut Verified</a:t>
            </a:r>
            <a:endParaRPr lang="en-US" sz="2800" dirty="0"/>
          </a:p>
        </p:txBody>
      </p:sp>
      <p:pic>
        <p:nvPicPr>
          <p:cNvPr id="4" name="Plot: PresentEventQA" descr="macros/PresentEventQA.C output, DCA / vertex XY / refMult with centrality cuts / events-per-centrality-bin, this week's pion yield fi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498" y="1210000"/>
            <a:ext cx="5857005" cy="30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PION event QA: DCA, vertex XY, refMult centrality cuts, events per bin.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29,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π/K/p Spectra Analysis -- Status Update</dc:title>
  <dc:subject>PptxGenJS Presentation</dc:subject>
  <dc:creator>Andrew Liggett</dc:creator>
  <cp:lastModifiedBy>Andrew Liggett</cp:lastModifiedBy>
  <cp:revision>1</cp:revision>
  <dcterms:created xsi:type="dcterms:W3CDTF">2026-07-03T21:54:30Z</dcterms:created>
  <dcterms:modified xsi:type="dcterms:W3CDTF">2026-07-03T21:54:30Z</dcterms:modified>
</cp:coreProperties>
</file>